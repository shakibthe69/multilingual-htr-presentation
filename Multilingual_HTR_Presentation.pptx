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630936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Trebuchet MS"/>
              </a:defRPr>
            </a:pPr>
            <a:r>
              <a:t>BUILT BY SHAKIB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A855F7"/>
                </a:solidFill>
                <a:latin typeface="Trebuchet MS"/>
              </a:defRPr>
            </a:pPr>
            <a:r>
              <a:t>RESEARCH PROPOSAL • CSE FYDP</a:t>
            </a:r>
          </a:p>
          <a:p>
            <a:br/>
            <a:pPr>
              <a:defRPr sz="4000" b="1">
                <a:solidFill>
                  <a:srgbClr val="F8FAFC"/>
                </a:solidFill>
                <a:latin typeface="Trebuchet MS"/>
              </a:defRPr>
            </a:pPr>
            <a:r>
              <a:t>Multilingual Handwritten</a:t>
            </a:r>
            <a:br/>
            <a:r>
              <a:t>Text Recognition</a:t>
            </a:r>
          </a:p>
          <a:p>
            <a:pPr>
              <a:defRPr sz="1800">
                <a:solidFill>
                  <a:srgbClr val="00F0FF"/>
                </a:solidFill>
                <a:latin typeface="Trebuchet MS"/>
              </a:defRPr>
            </a:pPr>
            <a:r>
              <a:t>Bangla • English • Digits • Symbols</a:t>
            </a:r>
            <a:br/>
          </a:p>
          <a:p>
            <a:pPr>
              <a:defRPr sz="1300" i="1">
                <a:solidFill>
                  <a:srgbClr val="94A3B8"/>
                </a:solidFill>
                <a:latin typeface="Arial"/>
              </a:defRPr>
            </a:pPr>
            <a:r>
              <a:t>Converting handwritten images into editable digital text.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029200"/>
            <a:ext cx="5943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94A3B8"/>
                </a:solidFill>
                <a:latin typeface="Arial"/>
              </a:defRPr>
            </a:pPr>
            <a:r>
              <a:t>PREPARED BY:</a:t>
            </a:r>
            <a:br/>
            <a:r>
              <a:t>Team Members &amp; IDs</a:t>
            </a:r>
            <a:br/>
            <a:br/>
            <a:r>
              <a:t>Department of Computer Science &amp; Engineering</a:t>
            </a:r>
            <a:br/>
            <a:r>
              <a:t>University Name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1645920"/>
            <a:ext cx="4297680" cy="4114800"/>
          </a:xfrm>
          <a:prstGeom prst="roundRect">
            <a:avLst/>
          </a:prstGeom>
          <a:solidFill>
            <a:srgbClr val="131A30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0" y="1828800"/>
            <a:ext cx="3931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</a:defRPr>
            </a:pPr>
            <a:r>
              <a:t>TRANSFORMATION PIPELINE</a:t>
            </a:r>
          </a:p>
          <a:p>
            <a:br/>
            <a:pPr algn="ctr">
              <a:defRPr sz="1200">
                <a:solidFill>
                  <a:srgbClr val="F8FAFC"/>
                </a:solidFill>
              </a:defRPr>
            </a:pPr>
            <a:r>
              <a:t>[ Handwritten Input ]</a:t>
            </a:r>
            <a:br/>
            <a:r>
              <a:t>বাংলা  •  Hello  •  2026  •  @ + =</a:t>
            </a:r>
          </a:p>
          <a:p>
            <a:pPr algn="ctr">
              <a:defRPr sz="1600">
                <a:solidFill>
                  <a:srgbClr val="A855F7"/>
                </a:solidFill>
              </a:defRPr>
            </a:pPr>
            <a:r>
              <a:t>↓</a:t>
            </a:r>
          </a:p>
          <a:p>
            <a:pPr algn="ctr">
              <a:defRPr sz="1300" b="1">
                <a:solidFill>
                  <a:srgbClr val="00F0FF"/>
                </a:solidFill>
              </a:defRPr>
            </a:pPr>
            <a:r>
              <a:t>[ AI Vision Model ]</a:t>
            </a:r>
          </a:p>
          <a:p>
            <a:pPr algn="ctr">
              <a:defRPr sz="1600">
                <a:solidFill>
                  <a:srgbClr val="A855F7"/>
                </a:solidFill>
              </a:defRPr>
            </a:pPr>
            <a:r>
              <a:t>↓</a:t>
            </a:r>
          </a:p>
          <a:p>
            <a:pPr algn="ctr">
              <a:defRPr sz="1200">
                <a:solidFill>
                  <a:srgbClr val="10B981"/>
                </a:solidFill>
              </a:defRPr>
            </a:pPr>
            <a:r>
              <a:t>[ Clean Digital Text ]</a:t>
            </a:r>
            <a:br/>
            <a:r>
              <a:t>বাংলা  •  Hello  •  2026  •  @ + =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630936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Trebuchet MS"/>
              </a:defRPr>
            </a:pPr>
            <a:r>
              <a:t>BUILT BY SHAKIB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Why Handwriting Recognition?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3840480"/>
          </a:xfrm>
          <a:prstGeom prst="roundRect">
            <a:avLst/>
          </a:prstGeom>
          <a:solidFill>
            <a:srgbClr val="131A30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87171"/>
                </a:solidFill>
              </a:defRPr>
            </a:pPr>
            <a:r>
              <a:t>⚠️ Complex Handwriting Challenge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Complex Writing Styles</a:t>
            </a:r>
            <a:br/>
            <a:r>
              <a:t>  Different writing habits and unique curves per individual.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Noise &amp; Distortion</a:t>
            </a:r>
            <a:br/>
            <a:r>
              <a:t>  Smudges, low-contrast scans, paper folds, and background noise.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Mixed Scripts</a:t>
            </a:r>
            <a:br/>
            <a:r>
              <a:t>  Multiple languages/scripts present within the same document.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737360"/>
            <a:ext cx="5120640" cy="3840480"/>
          </a:xfrm>
          <a:prstGeom prst="roundRect">
            <a:avLst/>
          </a:prstGeom>
          <a:solidFill>
            <a:srgbClr val="131A3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0FF"/>
                </a:solidFill>
              </a:defRPr>
            </a:pPr>
            <a:r>
              <a:t>📑 Real-World Multilingual Sample</a:t>
            </a:r>
          </a:p>
          <a:p>
            <a:br/>
            <a:pPr>
              <a:defRPr sz="1200">
                <a:solidFill>
                  <a:srgbClr val="94A3B8"/>
                </a:solidFill>
              </a:defRPr>
            </a:pPr>
            <a:r>
              <a:t>Document Sample Content:</a:t>
            </a:r>
          </a:p>
          <a:p>
            <a:pPr>
              <a:defRPr sz="1500" b="1">
                <a:solidFill>
                  <a:srgbClr val="F8FAFC"/>
                </a:solidFill>
                <a:latin typeface="Consolas"/>
              </a:defRPr>
            </a:pPr>
            <a:r>
              <a:t> আমার নাম Shakib</a:t>
            </a:r>
            <a:br/>
            <a:r>
              <a:t> ID: 202012345</a:t>
            </a:r>
            <a:br/>
            <a:r>
              <a:t> Total = 500 + 200</a:t>
            </a:r>
            <a:br/>
            <a:r>
              <a:t> Email: shakib@gmail.com</a:t>
            </a:r>
          </a:p>
          <a:p>
            <a:br/>
            <a:pPr>
              <a:defRPr sz="1300" b="1">
                <a:solidFill>
                  <a:srgbClr val="00F0FF"/>
                </a:solidFill>
              </a:defRPr>
            </a:pPr>
            <a:r>
              <a:t>→ One unified document containing multiple character types.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7171"/>
                </a:solidFill>
              </a:defRPr>
            </a:pPr>
            <a:r>
              <a:t>Limitation: Existing optical/handwritten systems are often language- or task-specific.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630936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Trebuchet MS"/>
              </a:defRPr>
            </a:pPr>
            <a:r>
              <a:t>BUILT BY SHAKIB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OBJECTIVES &amp;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What Are We Building?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468880" cy="1645920"/>
          </a:xfrm>
          <a:prstGeom prst="roundRect">
            <a:avLst/>
          </a:prstGeom>
          <a:solidFill>
            <a:srgbClr val="131A3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</a:defRPr>
            </a:pPr>
            <a:r>
              <a:t>🇧🇩 Bangla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Handwritten Bangla script and graphemes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45920"/>
            <a:ext cx="2468880" cy="1645920"/>
          </a:xfrm>
          <a:prstGeom prst="roundRect">
            <a:avLst/>
          </a:prstGeom>
          <a:solidFill>
            <a:srgbClr val="131A3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</a:defRPr>
            </a:pPr>
            <a:r>
              <a:t>🔤 English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Uppercase &amp; lowercase alphabet recognition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2468880" cy="1645920"/>
          </a:xfrm>
          <a:prstGeom prst="roundRect">
            <a:avLst/>
          </a:prstGeom>
          <a:solidFill>
            <a:srgbClr val="131A3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59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</a:defRPr>
            </a:pPr>
            <a:r>
              <a:t>🔢 Digits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0-9 English &amp; Bengali digits recognition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45920"/>
            <a:ext cx="2468880" cy="1645920"/>
          </a:xfrm>
          <a:prstGeom prst="roundRect">
            <a:avLst/>
          </a:prstGeom>
          <a:solidFill>
            <a:srgbClr val="131A3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737360"/>
            <a:ext cx="2286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</a:defRPr>
            </a:pPr>
            <a:r>
              <a:t>🔣 Symbols</a:t>
            </a:r>
          </a:p>
          <a:p>
            <a:br/>
            <a:pPr>
              <a:defRPr sz="1100">
                <a:solidFill>
                  <a:srgbClr val="F8FAFC"/>
                </a:solidFill>
              </a:defRPr>
            </a:pPr>
            <a:r>
              <a:t>@ # + - = % and other special characters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747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F0FF"/>
                </a:solidFill>
              </a:defRPr>
            </a:pPr>
            <a:r>
              <a:t>Core Goal: One system → Multiple handwritten content types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114800"/>
            <a:ext cx="5120640" cy="2011680"/>
          </a:xfrm>
          <a:prstGeom prst="roundRect">
            <a:avLst/>
          </a:prstGeom>
          <a:solidFill>
            <a:srgbClr val="131A30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062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IN SCOPE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Image-based HTR</a:t>
            </a:r>
            <a:br/>
            <a:r>
              <a:t>• Mixed script recognition</a:t>
            </a:r>
            <a:br/>
            <a:r>
              <a:t>• Editable text outputs (.txt, .json)</a:t>
            </a:r>
            <a:br/>
            <a:r>
              <a:t>• Metrics evaluation (CER/WER)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4114800"/>
            <a:ext cx="5120640" cy="2011680"/>
          </a:xfrm>
          <a:prstGeom prst="roundRect">
            <a:avLst/>
          </a:prstGeom>
          <a:solidFill>
            <a:srgbClr val="131A30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20624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87171"/>
                </a:solidFill>
              </a:defRPr>
            </a:pPr>
            <a:r>
              <a:t>OUT OF SCOPE — THIS TRIMESTER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Full commercial web deployment</a:t>
            </a:r>
            <a:br/>
            <a:r>
              <a:t>• Perfect handwriting recognition accuracy (100%)</a:t>
            </a:r>
            <a:br/>
            <a:r>
              <a:t>• Large-scale mobile deployment</a:t>
            </a:r>
            <a:br/>
            <a:r>
              <a:t>• Complex document structure/layout understanding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630936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Trebuchet MS"/>
              </a:defRPr>
            </a:pPr>
            <a:r>
              <a:t>BUILT BY SHAKIB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What Already Exists?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2743200"/>
          </a:xfrm>
          <a:prstGeom prst="roundRect">
            <a:avLst/>
          </a:prstGeom>
          <a:solidFill>
            <a:srgbClr val="131A3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2024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01  Traditional HTR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Base CNN + RNN + CTC loss</a:t>
            </a:r>
            <a:br/>
            <a:r>
              <a:t>• CNN for feature maps</a:t>
            </a:r>
            <a:br/>
            <a:r>
              <a:t>• LSTM/GRU for sequence modeling</a:t>
            </a:r>
            <a:br/>
            <a:r>
              <a:t>• Core pipeline: CNN → LSTM → 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383280" cy="2743200"/>
          </a:xfrm>
          <a:prstGeom prst="roundRect">
            <a:avLst/>
          </a:prstGeom>
          <a:solidFill>
            <a:srgbClr val="131A30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92024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8FAFC"/>
                </a:solidFill>
              </a:defRPr>
            </a:pPr>
            <a:r>
              <a:t>02  Transformer OCR</a:t>
            </a:r>
            <a:br/>
          </a:p>
          <a:p>
            <a:pPr>
              <a:defRPr sz="1100">
                <a:solidFill>
                  <a:srgbClr val="94A3B8"/>
                </a:solidFill>
              </a:defRPr>
            </a:pPr>
            <a:r>
              <a:t>• Transformer-based sequence learning</a:t>
            </a:r>
            <a:br/>
            <a:r>
              <a:t>• Attention-based decoding</a:t>
            </a:r>
            <a:br/>
            <a:r>
              <a:t>• Removes CTC constraints</a:t>
            </a:r>
            <a:br/>
            <a:r>
              <a:t>• Core pipeline: Image → Transformer → 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828800"/>
            <a:ext cx="3383280" cy="2743200"/>
          </a:xfrm>
          <a:prstGeom prst="roundRect">
            <a:avLst/>
          </a:prstGeom>
          <a:solidFill>
            <a:srgbClr val="131A30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920240"/>
            <a:ext cx="3200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0FF"/>
                </a:solidFill>
              </a:defRPr>
            </a:pPr>
            <a:r>
              <a:t>03  GraDeT-HTR (2025)</a:t>
            </a:r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Decoder-only Transformer for Bangla HTR</a:t>
            </a:r>
            <a:br/>
            <a:r>
              <a:t>• Grapheme-based tokenization</a:t>
            </a:r>
            <a:br/>
            <a:r>
              <a:t>• Benchmark results on BN-HTRd:</a:t>
            </a:r>
            <a:br/>
            <a:r>
              <a:t>  87M Parameters</a:t>
            </a:r>
            <a:br/>
            <a:r>
              <a:t>  CER 6.19%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F0FF"/>
                </a:solidFill>
              </a:defRPr>
            </a:pPr>
            <a:r>
              <a:t>Our Direction: Extend multilingual recognition beyond Bengali-only HTR.</a:t>
            </a:r>
            <a:br/>
            <a:r>
              <a:t>Unified HTR (Bangla + English + Digits + Symbols)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t>* Citation: GraDeT-HTR (2025) Bengali Handwriting Recognition. Parameters and CER cited from original publication benchmarks.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630936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Trebuchet MS"/>
              </a:defRPr>
            </a:pPr>
            <a:r>
              <a:t>BUILT BY SHAKIB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Proposed Recognition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280160" cy="2011680"/>
          </a:xfrm>
          <a:prstGeom prst="roundRect">
            <a:avLst/>
          </a:prstGeom>
          <a:solidFill>
            <a:srgbClr val="131A3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1280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Input Image</a:t>
            </a:r>
          </a:p>
          <a:p>
            <a:br/>
            <a:pPr algn="ctr">
              <a:defRPr sz="900">
                <a:solidFill>
                  <a:srgbClr val="94A3B8"/>
                </a:solidFill>
              </a:defRPr>
            </a:pPr>
            <a:r>
              <a:t>Raw source 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7432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F0FF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103120"/>
            <a:ext cx="1280160" cy="2011680"/>
          </a:xfrm>
          <a:prstGeom prst="roundRect">
            <a:avLst/>
          </a:prstGeom>
          <a:solidFill>
            <a:srgbClr val="131A3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86000" y="2194560"/>
            <a:ext cx="1280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Preprocessing</a:t>
            </a:r>
          </a:p>
          <a:p>
            <a:br/>
            <a:pPr algn="ctr">
              <a:defRPr sz="900">
                <a:solidFill>
                  <a:srgbClr val="94A3B8"/>
                </a:solidFill>
              </a:defRPr>
            </a:pPr>
            <a:r>
              <a:t>Binarize &amp; clean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7432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F0FF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40480" y="2103120"/>
            <a:ext cx="1280160" cy="2011680"/>
          </a:xfrm>
          <a:prstGeom prst="roundRect">
            <a:avLst/>
          </a:prstGeom>
          <a:solidFill>
            <a:srgbClr val="131A3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0" y="2194560"/>
            <a:ext cx="1280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Text Detection</a:t>
            </a:r>
          </a:p>
          <a:p>
            <a:br/>
            <a:pPr algn="ctr">
              <a:defRPr sz="900">
                <a:solidFill>
                  <a:srgbClr val="94A3B8"/>
                </a:solidFill>
              </a:defRPr>
            </a:pPr>
            <a:r>
              <a:t>Segment lines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27432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F0FF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94960" y="2103120"/>
            <a:ext cx="1280160" cy="2011680"/>
          </a:xfrm>
          <a:prstGeom prst="roundRect">
            <a:avLst/>
          </a:prstGeom>
          <a:solidFill>
            <a:srgbClr val="131A3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2194560"/>
            <a:ext cx="1280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Features</a:t>
            </a:r>
          </a:p>
          <a:p>
            <a:br/>
            <a:pPr algn="ctr">
              <a:defRPr sz="900">
                <a:solidFill>
                  <a:srgbClr val="94A3B8"/>
                </a:solidFill>
              </a:defRPr>
            </a:pPr>
            <a:r>
              <a:t>CNN backbone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7432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F0FF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2103120"/>
            <a:ext cx="1280160" cy="2011680"/>
          </a:xfrm>
          <a:prstGeom prst="roundRect">
            <a:avLst/>
          </a:prstGeom>
          <a:solidFill>
            <a:srgbClr val="131A30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0" y="2194560"/>
            <a:ext cx="1280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F0FF"/>
                </a:solidFill>
              </a:defRPr>
            </a:pPr>
            <a:r>
              <a:t>Model</a:t>
            </a:r>
          </a:p>
          <a:p>
            <a:br/>
            <a:pPr algn="ctr">
              <a:defRPr sz="900">
                <a:solidFill>
                  <a:srgbClr val="94A3B8"/>
                </a:solidFill>
              </a:defRPr>
            </a:pPr>
            <a:r>
              <a:t>BiLSTM/Transformer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7432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F0FF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03920" y="2103120"/>
            <a:ext cx="1280160" cy="2011680"/>
          </a:xfrm>
          <a:prstGeom prst="roundRect">
            <a:avLst/>
          </a:prstGeom>
          <a:solidFill>
            <a:srgbClr val="131A3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0" y="2194560"/>
            <a:ext cx="1280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Tokenization</a:t>
            </a:r>
          </a:p>
          <a:p>
            <a:br/>
            <a:pPr algn="ctr">
              <a:defRPr sz="900">
                <a:solidFill>
                  <a:srgbClr val="94A3B8"/>
                </a:solidFill>
              </a:defRPr>
            </a:pPr>
            <a:r>
              <a:t>Character mapping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27432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F0FF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58400" y="2103120"/>
            <a:ext cx="1280160" cy="2011680"/>
          </a:xfrm>
          <a:prstGeom prst="roundRect">
            <a:avLst/>
          </a:prstGeom>
          <a:solidFill>
            <a:srgbClr val="131A3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2194560"/>
            <a:ext cx="1280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Digital Text</a:t>
            </a:r>
          </a:p>
          <a:p>
            <a:br/>
            <a:pPr algn="ctr">
              <a:defRPr sz="900">
                <a:solidFill>
                  <a:srgbClr val="94A3B8"/>
                </a:solidFill>
              </a:defRPr>
            </a:pPr>
            <a:r>
              <a:t>Editable output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480560"/>
            <a:ext cx="10728655" cy="1645920"/>
          </a:xfrm>
          <a:prstGeom prst="rect">
            <a:avLst/>
          </a:prstGeom>
          <a:solidFill>
            <a:srgbClr val="131A30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5720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8FAFC"/>
                </a:solidFill>
              </a:defRPr>
            </a:pPr>
            <a:r>
              <a:t>Experimental Baseline vs. Advanced Architectures: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Baseline Model: CNN + BiLSTM + CTC (efficient, well-documented sequential approach)</a:t>
            </a:r>
            <a:br/>
            <a:r>
              <a:t>• Advanced Model: Attention-based Transformer Decoder (handling global context across languages)</a:t>
            </a:r>
            <a:br/>
            <a:r>
              <a:t>• Goal: Programmatically benchmark both architectures to determine accuracy/latency trade-offs.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630936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Trebuchet MS"/>
              </a:defRPr>
            </a:pPr>
            <a:r>
              <a:t>BUILT BY SHAKIB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RESOURCES &amp; 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Data &amp; Technology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31A3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0FF"/>
                </a:solidFill>
              </a:defRPr>
            </a:pPr>
            <a:r>
              <a:t>📊 Training Datasets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Bangla: BN-HTRd &amp; Ishra dataset variants</a:t>
            </a:r>
            <a:br/>
            <a:r>
              <a:t>• English: IAM Handwriting Database</a:t>
            </a:r>
            <a:br/>
            <a:r>
              <a:t>• Digits: MNIST / NumtaDB digits</a:t>
            </a:r>
            <a:br/>
            <a:r>
              <a:t>• Symbols: Custom mathematical and special symbols dataset</a:t>
            </a:r>
            <a:br/>
            <a:br/>
            <a:r>
              <a:t>• Augmentation Strategy: Elastic distortions, shearing, rotations, blur, and contrast changes to simulate diverse handwriting profiles.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114800"/>
          </a:xfrm>
          <a:prstGeom prst="roundRect">
            <a:avLst/>
          </a:prstGeom>
          <a:solidFill>
            <a:srgbClr val="131A30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</a:defRPr>
            </a:pPr>
            <a:r>
              <a:t>💻 Technical Environment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Programming Language: Python</a:t>
            </a:r>
            <a:br/>
            <a:r>
              <a:t>• Deep Learning: PyTorch</a:t>
            </a:r>
            <a:br/>
            <a:r>
              <a:t>• Image Processing: OpenCV, NumPy</a:t>
            </a:r>
            <a:br/>
            <a:r>
              <a:t>• API Framework: FastAPI / Flask</a:t>
            </a:r>
            <a:br/>
            <a:r>
              <a:t>• Web Interface: React JS / Vanilla HTML5</a:t>
            </a:r>
            <a:br/>
            <a:br/>
            <a:r>
              <a:t>No description needed for tools - unified stack for model execution and inference web endpoint.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630936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Trebuchet MS"/>
              </a:defRPr>
            </a:pPr>
            <a:r>
              <a:t>BUILT BY SHAKIB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DELIVERABLES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How Will We Know It Works?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31A3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📦 Project Deliverables</a:t>
            </a:r>
          </a:p>
          <a:p>
            <a:br/>
            <a:pPr>
              <a:defRPr sz="1200">
                <a:solidFill>
                  <a:srgbClr val="F8FAFC"/>
                </a:solidFill>
              </a:defRPr>
            </a:pPr>
            <a:r>
              <a:t>• Dataset: Preprocessed, cleaned multilingual dataset</a:t>
            </a:r>
            <a:br/>
            <a:r>
              <a:t>• Trained Model: Weights saved (.pt/.onnx format)</a:t>
            </a:r>
            <a:br/>
            <a:r>
              <a:t>• Web Application: User interface for image uploads</a:t>
            </a:r>
            <a:br/>
            <a:r>
              <a:t>• Research Report: Project paper detailing methodologies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114800"/>
          </a:xfrm>
          <a:prstGeom prst="roundRect">
            <a:avLst/>
          </a:prstGeom>
          <a:solidFill>
            <a:srgbClr val="131A30"/>
          </a:solidFill>
          <a:ln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0FF"/>
                </a:solidFill>
              </a:defRPr>
            </a:pPr>
            <a:r>
              <a:t>📊 Metrics &amp; Benchmarks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Evaluation Criteria:</a:t>
            </a:r>
            <a:br/>
            <a:r>
              <a:t>- CER (Character Error Rate)  - WER (Word Error Rate)</a:t>
            </a:r>
            <a:br/>
            <a:r>
              <a:t>- Accuracy (Sequence-level)   - Latency (Inference speed)</a:t>
            </a:r>
            <a:br/>
          </a:p>
          <a:p>
            <a:pPr>
              <a:defRPr sz="1100">
                <a:solidFill>
                  <a:srgbClr val="94A3B8"/>
                </a:solidFill>
                <a:latin typeface="Consolas"/>
              </a:defRPr>
            </a:pPr>
            <a:r>
              <a:t>Target Evaluation Schema:</a:t>
            </a:r>
            <a:br/>
            <a:r>
              <a:t>• Bangla  →  CER / Sequence Accuracy</a:t>
            </a:r>
            <a:br/>
            <a:r>
              <a:t>• English →  CER / Sequence Accuracy</a:t>
            </a:r>
            <a:br/>
            <a:r>
              <a:t>• Digits  →  Recognition Accuracy</a:t>
            </a:r>
            <a:br/>
            <a:r>
              <a:t>• Symbols →  Recognition Accuracy</a:t>
            </a:r>
            <a:br/>
            <a:r>
              <a:t>• Mixed   →  CER / WER / Edit Distance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630936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Trebuchet MS"/>
              </a:defRPr>
            </a:pPr>
            <a:r>
              <a:t>BUILT BY SHAKIB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38BDF8"/>
                </a:solidFill>
                <a:latin typeface="Trebuchet MS"/>
              </a:defRPr>
            </a:pPr>
            <a:r>
              <a:t>ACADEMIC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Trebuchet MS"/>
              </a:defRPr>
            </a:pPr>
            <a:r>
              <a:t>How We Use AI Assistants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11094415" cy="1828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131A30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8BDF8"/>
                </a:solidFill>
              </a:defRPr>
            </a:pPr>
            <a:r>
              <a:t>🔄 Human-AI Workflow Loop</a:t>
            </a:r>
          </a:p>
          <a:p>
            <a:br/>
            <a:pPr algn="ctr">
              <a:defRPr sz="1300" b="1">
                <a:solidFill>
                  <a:srgbClr val="F8FAFC"/>
                </a:solidFill>
              </a:defRPr>
            </a:pPr>
            <a:r>
              <a:t>Research</a:t>
            </a:r>
            <a:br/>
            <a:r>
              <a:t>   ↓</a:t>
            </a:r>
            <a:br/>
            <a:r>
              <a:t>AI Assistance</a:t>
            </a:r>
            <a:br/>
            <a:r>
              <a:t>   ↓</a:t>
            </a:r>
            <a:br/>
            <a:r>
              <a:t>Human Verification &amp; Code Audit</a:t>
            </a:r>
            <a:br/>
            <a:r>
              <a:t>   ↓</a:t>
            </a:r>
            <a:br/>
            <a:r>
              <a:t>Local Model Implementation</a:t>
            </a:r>
            <a:br/>
            <a:r>
              <a:t>   ↓</a:t>
            </a:r>
            <a:br/>
            <a:r>
              <a:t>Testing &amp; Experimentation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4114800"/>
          </a:xfrm>
          <a:prstGeom prst="roundRect">
            <a:avLst/>
          </a:prstGeom>
          <a:solidFill>
            <a:srgbClr val="131A30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82880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A855F7"/>
                </a:solidFill>
              </a:defRPr>
            </a:pPr>
            <a:r>
              <a:t>💡 Assistive Scope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Literature: Architecture parsing &amp; comparisons</a:t>
            </a:r>
            <a:br/>
            <a:r>
              <a:t>• Development: Debugging code, boilerplate scripts</a:t>
            </a:r>
            <a:br/>
            <a:r>
              <a:t>• Analysis: Structuring verification code</a:t>
            </a:r>
            <a:br/>
            <a:r>
              <a:t>• Writing: Presentation formatting help</a:t>
            </a:r>
          </a:p>
          <a:p>
            <a:br/>
            <a:pPr>
              <a:defRPr sz="1200" b="1">
                <a:solidFill>
                  <a:srgbClr val="A855F7"/>
                </a:solidFill>
              </a:defRPr>
            </a:pPr>
            <a:r>
              <a:t>Academic Integrity Statement:</a:t>
            </a:r>
            <a:br/>
            <a:r>
              <a:t>"AI assists the development process — final decisions, implementation, experiments, and validation remain our responsibility."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601200" y="6309360"/>
            <a:ext cx="2057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 b="1">
                <a:solidFill>
                  <a:srgbClr val="94A3B8"/>
                </a:solidFill>
                <a:latin typeface="Trebuchet MS"/>
              </a:defRPr>
            </a:pPr>
            <a:r>
              <a:t>BUILT BY SHAKIB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A855F7"/>
                </a:solidFill>
              </a:defRPr>
            </a:pPr>
            <a:r>
              <a:t>LOOKING FORWARD</a:t>
            </a:r>
          </a:p>
          <a:p>
            <a:br/>
            <a:pPr algn="ctr">
              <a:defRPr sz="3600" b="1">
                <a:solidFill>
                  <a:srgbClr val="F8FAFC"/>
                </a:solidFill>
              </a:defRPr>
            </a:pPr>
            <a:r>
              <a:t>From Handwriting to Digital Intelligence</a:t>
            </a:r>
          </a:p>
          <a:p>
            <a:br/>
            <a:pPr algn="ctr">
              <a:defRPr sz="1600">
                <a:solidFill>
                  <a:srgbClr val="00F0FF"/>
                </a:solidFill>
              </a:defRPr>
            </a:pPr>
            <a:r>
              <a:t>✍️ Handwritten Page  →  👁️ AI Vision  →  🧠 HTR Model  →  💻 Editable Text</a:t>
            </a:r>
          </a:p>
          <a:p>
            <a:br/>
            <a:br/>
            <a:pPr algn="ctr">
              <a:defRPr sz="1600" b="1">
                <a:solidFill>
                  <a:srgbClr val="F8FAFC"/>
                </a:solidFill>
              </a:defRPr>
            </a:pPr>
            <a:r>
              <a:t>One system for multilingual handwritten text.</a:t>
            </a:r>
            <a:br/>
            <a:r>
              <a:t>Bangla • English • Digits • Symbols</a:t>
            </a:r>
          </a:p>
          <a:p>
            <a:br/>
            <a:br/>
            <a:pPr algn="ctr">
              <a:defRPr sz="1600" b="1">
                <a:solidFill>
                  <a:srgbClr val="10B981"/>
                </a:solidFill>
              </a:defRPr>
            </a:pPr>
            <a:r>
              <a:t>Thank You!  •  Questions &amp; Feedback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